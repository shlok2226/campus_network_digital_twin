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b72e7adb2b4b06" /><Relationship Type="http://schemas.openxmlformats.org/officeDocument/2006/relationships/extended-properties" Target="/docProps/app.xml" Id="Rdae5db0542b842e0" /><Relationship Type="http://schemas.openxmlformats.org/officeDocument/2006/relationships/officeDocument" Target="/ppt/presentation.xml" Id="R26c10f81eb4b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2b45ecedd34ad6"/>
  </p:sldMasterIdLst>
  <p:notesMasterIdLst>
    <p:notesMasterId xmlns:r="http://schemas.openxmlformats.org/officeDocument/2006/relationships" r:id="Rf1a3ffba77f345e1"/>
  </p:notesMasterIdLst>
  <p:sldIdLst>
    <p:sldId xmlns:r="http://schemas.openxmlformats.org/officeDocument/2006/relationships" id="256" r:id="Rafdf281bbd2c4d0f"/>
    <p:sldId xmlns:r="http://schemas.openxmlformats.org/officeDocument/2006/relationships" id="257" r:id="Reea1d17501614148"/>
    <p:sldId xmlns:r="http://schemas.openxmlformats.org/officeDocument/2006/relationships" id="258" r:id="R8e1b3166022946d2"/>
    <p:sldId xmlns:r="http://schemas.openxmlformats.org/officeDocument/2006/relationships" id="259" r:id="R4ebf0a95e1f040a1"/>
    <p:sldId xmlns:r="http://schemas.openxmlformats.org/officeDocument/2006/relationships" id="260" r:id="R4a7d167fa7ed45f7"/>
    <p:sldId xmlns:r="http://schemas.openxmlformats.org/officeDocument/2006/relationships" id="261" r:id="Rddd405d362064a7a"/>
    <p:sldId xmlns:r="http://schemas.openxmlformats.org/officeDocument/2006/relationships" id="262" r:id="Ra1c17921a3544a74"/>
    <p:sldId xmlns:r="http://schemas.openxmlformats.org/officeDocument/2006/relationships" id="263" r:id="Rb402de06c6d047a9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96dca874045c0" /><Relationship Type="http://schemas.openxmlformats.org/officeDocument/2006/relationships/slideMaster" Target="/ppt/slideMasters/slideMaster1.xml" Id="R272b45ecedd34ad6" /><Relationship Type="http://schemas.openxmlformats.org/officeDocument/2006/relationships/notesMaster" Target="/ppt/notesMasters/notesMaster1.xml" Id="Rf1a3ffba77f345e1" /><Relationship Type="http://schemas.openxmlformats.org/officeDocument/2006/relationships/presProps" Target="/ppt/presProps.xml" Id="Rd3985362cdd946ef" /><Relationship Type="http://schemas.openxmlformats.org/officeDocument/2006/relationships/viewProps" Target="/ppt/viewProps.xml" Id="Rfd33fc6914104b9e" /><Relationship Type="http://schemas.openxmlformats.org/officeDocument/2006/relationships/tableStyles" Target="/ppt/tableStyles.xml" Id="Rfb0f4c1c86974098" /><Relationship Type="http://schemas.openxmlformats.org/officeDocument/2006/relationships/slide" Target="/ppt/slides/slide1.xml" Id="Rafdf281bbd2c4d0f" /><Relationship Type="http://schemas.openxmlformats.org/officeDocument/2006/relationships/slide" Target="/ppt/slides/slide2.xml" Id="Reea1d17501614148" /><Relationship Type="http://schemas.openxmlformats.org/officeDocument/2006/relationships/slide" Target="/ppt/slides/slide3.xml" Id="R8e1b3166022946d2" /><Relationship Type="http://schemas.openxmlformats.org/officeDocument/2006/relationships/slide" Target="/ppt/slides/slide4.xml" Id="R4ebf0a95e1f040a1" /><Relationship Type="http://schemas.openxmlformats.org/officeDocument/2006/relationships/slide" Target="/ppt/slides/slide5.xml" Id="R4a7d167fa7ed45f7" /><Relationship Type="http://schemas.openxmlformats.org/officeDocument/2006/relationships/slide" Target="/ppt/slides/slide6.xml" Id="Rddd405d362064a7a" /><Relationship Type="http://schemas.openxmlformats.org/officeDocument/2006/relationships/slide" Target="/ppt/slides/slide7.xml" Id="Ra1c17921a3544a74" /><Relationship Type="http://schemas.openxmlformats.org/officeDocument/2006/relationships/slide" Target="/ppt/slides/slide8.xml" Id="Rb402de06c6d047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8e39c2d8747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031d82ac04a8f" /><Relationship Type="http://schemas.openxmlformats.org/officeDocument/2006/relationships/notesMaster" Target="/ppt/notesMasters/notesMaster1.xml" Id="Re061a8f37dcf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69dc56dee4770" /><Relationship Type="http://schemas.openxmlformats.org/officeDocument/2006/relationships/notesMaster" Target="/ppt/notesMasters/notesMaster1.xml" Id="Rbeb5e0b0d8bb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ad99ff351d4420" /><Relationship Type="http://schemas.openxmlformats.org/officeDocument/2006/relationships/notesMaster" Target="/ppt/notesMasters/notesMaster1.xml" Id="Raaaa3aa502104b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4597e9df9047b7" /><Relationship Type="http://schemas.openxmlformats.org/officeDocument/2006/relationships/notesMaster" Target="/ppt/notesMasters/notesMaster1.xml" Id="Rdb0a32cce0f4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714a5073584275" /><Relationship Type="http://schemas.openxmlformats.org/officeDocument/2006/relationships/notesMaster" Target="/ppt/notesMasters/notesMaster1.xml" Id="Raa478dc88deb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75f4bf6f7c4589" /><Relationship Type="http://schemas.openxmlformats.org/officeDocument/2006/relationships/notesMaster" Target="/ppt/notesMasters/notesMaster1.xml" Id="R948bc9ca33714f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b5ad5839b64edc" /><Relationship Type="http://schemas.openxmlformats.org/officeDocument/2006/relationships/notesMaster" Target="/ppt/notesMasters/notesMaster1.xml" Id="Rf7e2d9347fbe4d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a1687a3b434891" /><Relationship Type="http://schemas.openxmlformats.org/officeDocument/2006/relationships/notesMaster" Target="/ppt/notesMasters/notesMaster1.xml" Id="Rcc9cb8e4b2a048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title and the five team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VLANs separate users by department. The router provides communication between VLANs, and the server provides campus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router-on-a-stick link between R1 and SW1. The switch connects two clients in each VLAN and a server in VLAN 40. Each group uses a separate /24 subnet.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VLAN 10 subinterface as an example; the same pattern is used for VLANs 20, 30 and 40. DHCP assigns client addresses. The server has a fixed address. The original router interface was shutdown, so it was enabled to bring up the trunk.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results come from the website packet-trace model and API checks, not a live Packet Tracer runtime test. Explain the modeled route and the cross-VLAN TTL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 Cisco Packet Tracer and start the local website before presenting. In Packet Tracer, show the network layout. In the website, run the A1-to-Server trace and explain that it is the companion simulator’s modeled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four-VLAN design and explain that the website is a companion teaching model. Do not present its trace results as live Packet Tracer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two references describe Packet Tracer and router-based inter-VLAN routing. RFC 2131 specifies DHCP.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f6d199ff4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c4d288e4846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2392b37a340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8177744e449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258659c064f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6f4823392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ba07bfbd04ff1" /><Relationship Type="http://schemas.openxmlformats.org/officeDocument/2006/relationships/slideLayout" Target="/ppt/slideLayouts/slideLayout1.xml" Id="R7ffbecd62fc94570" /><Relationship Type="http://schemas.openxmlformats.org/officeDocument/2006/relationships/slideLayout" Target="/ppt/slideLayouts/slideLayout2.xml" Id="R0fdcabe1b6874a24" /><Relationship Type="http://schemas.openxmlformats.org/officeDocument/2006/relationships/slideLayout" Target="/ppt/slideLayouts/slideLayout3.xml" Id="R556dcae4ad7c403f" /><Relationship Type="http://schemas.openxmlformats.org/officeDocument/2006/relationships/slideLayout" Target="/ppt/slideLayouts/slideLayout4.xml" Id="Rce7e55a3bf304995" /><Relationship Type="http://schemas.openxmlformats.org/officeDocument/2006/relationships/slideLayout" Target="/ppt/slideLayouts/slideLayout5.xml" Id="R135b7784c2964881" /><Relationship Type="http://schemas.openxmlformats.org/officeDocument/2006/relationships/slideLayout" Target="/ppt/slideLayouts/slideLayout6.xml" Id="Ra3b6ac6ccb6b47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becd62fc94570"/>
    <p:sldLayoutId xmlns:r="http://schemas.openxmlformats.org/officeDocument/2006/relationships" id="2147483650" r:id="R0fdcabe1b6874a24"/>
    <p:sldLayoutId xmlns:r="http://schemas.openxmlformats.org/officeDocument/2006/relationships" id="2147483651" r:id="R556dcae4ad7c403f"/>
    <p:sldLayoutId xmlns:r="http://schemas.openxmlformats.org/officeDocument/2006/relationships" id="2147483652" r:id="Rce7e55a3bf304995"/>
    <p:sldLayoutId xmlns:r="http://schemas.openxmlformats.org/officeDocument/2006/relationships" id="2147483653" r:id="R135b7784c2964881"/>
    <p:sldLayoutId xmlns:r="http://schemas.openxmlformats.org/officeDocument/2006/relationships" id="2147483654" r:id="Ra3b6ac6ccb6b47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86018c48d4ef9" /><Relationship Type="http://schemas.openxmlformats.org/officeDocument/2006/relationships/image" Target="/ppt/media/image.png" Id="Ra1fa91d6c6e248a4" /><Relationship Type="http://schemas.openxmlformats.org/officeDocument/2006/relationships/notesSlide" Target="/ppt/notesSlides/notesSlide1.xml" Id="R3343f1b5932e4937" /><Relationship Id="rId1" Type="http://schemas.openxmlformats.org/officeDocument/2006/relationships/hyperlink" Target="https://github.com/AsHx-BiT/Campus-Network-" TargetMode="Externa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444a81a814788" /><Relationship Type="http://schemas.openxmlformats.org/officeDocument/2006/relationships/notesSlide" Target="/ppt/notesSlides/notesSlide2.xml" Id="R95cb6bfc2a2c4a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442d60df742c4" /><Relationship Type="http://schemas.openxmlformats.org/officeDocument/2006/relationships/notesSlide" Target="/ppt/notesSlides/notesSlide3.xml" Id="R70ccd928b76a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4a7dab9584176" /><Relationship Type="http://schemas.openxmlformats.org/officeDocument/2006/relationships/notesSlide" Target="/ppt/notesSlides/notesSlide4.xml" Id="R9cfaf69c733647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a25a5ce8848ca" /><Relationship Type="http://schemas.openxmlformats.org/officeDocument/2006/relationships/notesSlide" Target="/ppt/notesSlides/notesSlide5.xml" Id="Ra63ea364b9504f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bda302f154577" /><Relationship Type="http://schemas.openxmlformats.org/officeDocument/2006/relationships/notesSlide" Target="/ppt/notesSlides/notesSlide6.xml" Id="R0397ce0dae6e4f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8de9bc1334a06" /><Relationship Type="http://schemas.openxmlformats.org/officeDocument/2006/relationships/notesSlide" Target="/ppt/notesSlides/notesSlide7.xml" Id="R16dd9458b1b343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37c43e99a4e45" /><Relationship Type="http://schemas.openxmlformats.org/officeDocument/2006/relationships/notesSlide" Target="/ppt/notesSlides/notesSlide8.xml" Id="R629c7f5ecd4943b4" /></Relationships>
</file>

<file path=ppt/slides/slide1.xml><?xml version="1.0" encoding="utf-8"?>
<p:sld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Campus Network Design and Packet Trace Simulator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28C3D80-075D-418B-9D49-9D51DA89A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a91d6c6e248a4"/>
          <a:stretch xmlns:a="http://schemas.openxmlformats.org/drawingml/2006/main"/>
        </p:blipFill>
        <p:spPr>
          <a:xfrm xmlns:a="http://schemas.openxmlformats.org/drawingml/2006/main">
            <a:off x="2916647" y="349624"/>
            <a:ext cx="3310706" cy="9525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Campus Packet Lab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Ajinkya Katke – 1262243726     Tattwam Samui – 1262242400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Akshat Pandey – 1262242316     Smith Hajgude – 1262242364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Shlok Pandey – 1262243751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Panel J   Batch J2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Dr. Uma Pujeri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</a:t>
            </a:r>
          </a:p>
        </p:txBody>
      </p:sp>
      <p:sp>
        <p:nvSpPr>
          <p:cNvPr id="10" name="GitHub repository URL">
            <a:extLst xmlns:a="http://schemas.openxmlformats.org/drawingml/2006/main">
              <a:ext uri="{FF2B5EF4-FFF2-40B4-BE49-F238E27FC236}">
                <a16:creationId xmlns:a16="http://schemas.microsoft.com/office/drawing/2014/main" id="{F4887B5E-E53D-4478-BB9B-F415A623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769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defPPr>
            <a:lvl1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0563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563C1"/>
                </a:solidFill>
                <a:latin typeface="Arial"/>
                <a:ea typeface="Arial"/>
                <a:cs typeface="Arial"/>
                <a:u val="sng"/>
                <a:hlinkClick r:id="rId1" tooltip="Open Campus Network GitHub repository"/>
              </a:rPr>
              <a:t>GitHub: https://github.com/AsHx-BiT/Campus-Network-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campus needs separate networks for administration, teachers, students and library users.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design should let each group communicate while keeping traffic organized.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Divide the campus LAN into four VLANs.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Route between VLANs with one router trunk.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Provide DHCP, DNS and a school web page, then trace sample packets.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Tools: Cisco Packet Tracer; companion dark-theme web simulator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Protocols: 802.1Q trunk, IPv4, DHCP, DNS and HTTP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Server: 192.168.40.10   |   Gateway: .1 in each subnet</a:t>
            </a:r>
          </a:p>
        </p:txBody>
      </p:sp>
      <p:sp>
        <p:nvSpPr>
          <p:cNvPr id="7" name="Router to switch trunk">
            <a:extLst xmlns:a="http://schemas.openxmlformats.org/drawingml/2006/main">
              <a:ext uri="{FF2B5EF4-FFF2-40B4-BE49-F238E27FC236}">
                <a16:creationId xmlns:a16="http://schemas.microsoft.com/office/drawing/2014/main" id="{F7661577-8A6C-4894-806E-23E64DF8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8" name="Switch uplink">
            <a:extLst xmlns:a="http://schemas.openxmlformats.org/drawingml/2006/main">
              <a:ext uri="{FF2B5EF4-FFF2-40B4-BE49-F238E27FC236}">
                <a16:creationId xmlns:a16="http://schemas.microsoft.com/office/drawing/2014/main" id="{CDD24298-4A01-4E37-B940-830F6F9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9" name="Switch distribution">
            <a:extLst xmlns:a="http://schemas.openxmlformats.org/drawingml/2006/main">
              <a:ext uri="{FF2B5EF4-FFF2-40B4-BE49-F238E27FC236}">
                <a16:creationId xmlns:a16="http://schemas.microsoft.com/office/drawing/2014/main" id="{4E46A3E7-7319-4592-9D88-122D6184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10" name="VLAN 160 link">
            <a:extLst xmlns:a="http://schemas.openxmlformats.org/drawingml/2006/main">
              <a:ext uri="{FF2B5EF4-FFF2-40B4-BE49-F238E27FC236}">
                <a16:creationId xmlns:a16="http://schemas.microsoft.com/office/drawing/2014/main" id="{9E184141-F06D-4C86-958C-AF8F7489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11" name="VLAN 373 link">
            <a:extLst xmlns:a="http://schemas.openxmlformats.org/drawingml/2006/main">
              <a:ext uri="{FF2B5EF4-FFF2-40B4-BE49-F238E27FC236}">
                <a16:creationId xmlns:a16="http://schemas.microsoft.com/office/drawing/2014/main" id="{50C63A00-673F-401F-9C02-CD3C326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9825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12" name="VLAN 587 link">
            <a:extLst xmlns:a="http://schemas.openxmlformats.org/drawingml/2006/main">
              <a:ext uri="{FF2B5EF4-FFF2-40B4-BE49-F238E27FC236}">
                <a16:creationId xmlns:a16="http://schemas.microsoft.com/office/drawing/2014/main" id="{2559C143-8533-486B-9223-248923C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09825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13" name="VLAN 800 link">
            <a:extLst xmlns:a="http://schemas.openxmlformats.org/drawingml/2006/main">
              <a:ext uri="{FF2B5EF4-FFF2-40B4-BE49-F238E27FC236}">
                <a16:creationId xmlns:a16="http://schemas.microsoft.com/office/drawing/2014/main" id="{5C84CF20-4D2D-4C8F-B1B0-2CC55B7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7D99"/>
            </a:solidFill>
            <a:prstDash val="solid"/>
          </a:ln>
        </p:spPr>
      </p:sp>
      <p:sp>
        <p:nvSpPr>
          <p:cNvPr id="14" name="R1 router">
            <a:extLst xmlns:a="http://schemas.openxmlformats.org/drawingml/2006/main">
              <a:ext uri="{FF2B5EF4-FFF2-40B4-BE49-F238E27FC236}">
                <a16:creationId xmlns:a16="http://schemas.microsoft.com/office/drawing/2014/main" id="{81949C3D-9903-4CF8-8B54-BDD1C31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81125"/>
            <a:ext cx="1238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4288">
            <a:solidFill>
              <a:srgbClr val="20375C"/>
            </a:solidFill>
            <a:prstDash val="solid"/>
          </a:ln>
        </p:spPr>
      </p:sp>
      <p:sp>
        <p:nvSpPr>
          <p:cNvPr id="15" name="R1 label">
            <a:extLst xmlns:a="http://schemas.openxmlformats.org/drawingml/2006/main">
              <a:ext uri="{FF2B5EF4-FFF2-40B4-BE49-F238E27FC236}">
                <a16:creationId xmlns:a16="http://schemas.microsoft.com/office/drawing/2014/main" id="{133E250B-F87F-46CA-BF63-C2F00CCC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8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R1 · 2911</a:t>
            </a:r>
          </a:p>
        </p:txBody>
      </p:sp>
      <p:sp>
        <p:nvSpPr>
          <p:cNvPr id="16" name="SW1 switch">
            <a:extLst xmlns:a="http://schemas.openxmlformats.org/drawingml/2006/main">
              <a:ext uri="{FF2B5EF4-FFF2-40B4-BE49-F238E27FC236}">
                <a16:creationId xmlns:a16="http://schemas.microsoft.com/office/drawing/2014/main" id="{D324A3F5-6549-4B14-9576-D91DCF9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33575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4288">
            <a:solidFill>
              <a:srgbClr val="20375C"/>
            </a:solidFill>
            <a:prstDash val="solid"/>
          </a:ln>
        </p:spPr>
      </p:sp>
      <p:sp>
        <p:nvSpPr>
          <p:cNvPr id="17" name="SW1 label">
            <a:extLst xmlns:a="http://schemas.openxmlformats.org/drawingml/2006/main">
              <a:ext uri="{FF2B5EF4-FFF2-40B4-BE49-F238E27FC236}">
                <a16:creationId xmlns:a16="http://schemas.microsoft.com/office/drawing/2014/main" id="{87590449-9FBB-4224-919A-D9103FF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335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SW1 · 2960</a:t>
            </a:r>
          </a:p>
        </p:txBody>
      </p:sp>
      <p:sp>
        <p:nvSpPr>
          <p:cNvPr id="18" name="VLAN 10 network">
            <a:extLst xmlns:a="http://schemas.openxmlformats.org/drawingml/2006/main">
              <a:ext uri="{FF2B5EF4-FFF2-40B4-BE49-F238E27FC236}">
                <a16:creationId xmlns:a16="http://schemas.microsoft.com/office/drawing/2014/main" id="{6903136B-7966-46B8-9F0D-37F1657D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607795"/>
            </a:solidFill>
            <a:prstDash val="solid"/>
          </a:ln>
        </p:spPr>
      </p:sp>
      <p:sp>
        <p:nvSpPr>
          <p:cNvPr id="19" name="VLAN 10 title">
            <a:extLst xmlns:a="http://schemas.openxmlformats.org/drawingml/2006/main">
              <a:ext uri="{FF2B5EF4-FFF2-40B4-BE49-F238E27FC236}">
                <a16:creationId xmlns:a16="http://schemas.microsoft.com/office/drawing/2014/main" id="{CFC8613B-3932-47CB-9078-24910E41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 10 · ADMIN</a:t>
            </a:r>
          </a:p>
        </p:txBody>
      </p:sp>
      <p:sp>
        <p:nvSpPr>
          <p:cNvPr id="20" name="VLAN 10 clients">
            <a:extLst xmlns:a="http://schemas.openxmlformats.org/drawingml/2006/main">
              <a:ext uri="{FF2B5EF4-FFF2-40B4-BE49-F238E27FC236}">
                <a16:creationId xmlns:a16="http://schemas.microsoft.com/office/drawing/2014/main" id="{A014FB10-3532-4177-A949-EFAEB30B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A1, A2</a:t>
            </a:r>
          </a:p>
        </p:txBody>
      </p:sp>
      <p:sp>
        <p:nvSpPr>
          <p:cNvPr id="21" name="VLAN 10 subnet">
            <a:extLst xmlns:a="http://schemas.openxmlformats.org/drawingml/2006/main">
              <a:ext uri="{FF2B5EF4-FFF2-40B4-BE49-F238E27FC236}">
                <a16:creationId xmlns:a16="http://schemas.microsoft.com/office/drawing/2014/main" id="{3C25D660-AA2E-4E57-B2E3-25D761C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36F"/>
                </a:solidFill>
                <a:latin typeface="Arial"/>
                <a:ea typeface="Arial"/>
                <a:cs typeface="Arial"/>
              </a:rPr>
              <a:t>192.168.10.0/24</a:t>
            </a:r>
          </a:p>
        </p:txBody>
      </p:sp>
      <p:sp>
        <p:nvSpPr>
          <p:cNvPr id="22" name="VLAN 11 network">
            <a:extLst xmlns:a="http://schemas.openxmlformats.org/drawingml/2006/main">
              <a:ext uri="{FF2B5EF4-FFF2-40B4-BE49-F238E27FC236}">
                <a16:creationId xmlns:a16="http://schemas.microsoft.com/office/drawing/2014/main" id="{5CC548F3-F97D-41C2-8488-084BDB21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71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607795"/>
            </a:solidFill>
            <a:prstDash val="solid"/>
          </a:ln>
        </p:spPr>
      </p:sp>
      <p:sp>
        <p:nvSpPr>
          <p:cNvPr id="23" name="VLAN 11 title">
            <a:extLst xmlns:a="http://schemas.openxmlformats.org/drawingml/2006/main">
              <a:ext uri="{FF2B5EF4-FFF2-40B4-BE49-F238E27FC236}">
                <a16:creationId xmlns:a16="http://schemas.microsoft.com/office/drawing/2014/main" id="{58321BEA-0CE1-400B-8644-0FC38FA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 20 · TEACHERS</a:t>
            </a:r>
          </a:p>
        </p:txBody>
      </p:sp>
      <p:sp>
        <p:nvSpPr>
          <p:cNvPr id="24" name="VLAN 11 clients">
            <a:extLst xmlns:a="http://schemas.openxmlformats.org/drawingml/2006/main">
              <a:ext uri="{FF2B5EF4-FFF2-40B4-BE49-F238E27FC236}">
                <a16:creationId xmlns:a16="http://schemas.microsoft.com/office/drawing/2014/main" id="{C1575667-904F-4A14-B854-C6B9D36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14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T1, T2</a:t>
            </a:r>
          </a:p>
        </p:txBody>
      </p:sp>
      <p:sp>
        <p:nvSpPr>
          <p:cNvPr id="25" name="VLAN 11 subnet">
            <a:extLst xmlns:a="http://schemas.openxmlformats.org/drawingml/2006/main">
              <a:ext uri="{FF2B5EF4-FFF2-40B4-BE49-F238E27FC236}">
                <a16:creationId xmlns:a16="http://schemas.microsoft.com/office/drawing/2014/main" id="{9CFC615F-5539-4284-820C-A9D2032F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81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36F"/>
                </a:solidFill>
                <a:latin typeface="Arial"/>
                <a:ea typeface="Arial"/>
                <a:cs typeface="Arial"/>
              </a:rPr>
              <a:t>192.168.20.0/24</a:t>
            </a:r>
          </a:p>
        </p:txBody>
      </p:sp>
      <p:sp>
        <p:nvSpPr>
          <p:cNvPr id="26" name="VLAN 12 network">
            <a:extLst xmlns:a="http://schemas.openxmlformats.org/drawingml/2006/main">
              <a:ext uri="{FF2B5EF4-FFF2-40B4-BE49-F238E27FC236}">
                <a16:creationId xmlns:a16="http://schemas.microsoft.com/office/drawing/2014/main" id="{AD27757B-BC8A-400D-BB88-B5880327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607795"/>
            </a:solidFill>
            <a:prstDash val="solid"/>
          </a:ln>
        </p:spPr>
      </p:sp>
      <p:sp>
        <p:nvSpPr>
          <p:cNvPr id="27" name="VLAN 12 title">
            <a:extLst xmlns:a="http://schemas.openxmlformats.org/drawingml/2006/main">
              <a:ext uri="{FF2B5EF4-FFF2-40B4-BE49-F238E27FC236}">
                <a16:creationId xmlns:a16="http://schemas.microsoft.com/office/drawing/2014/main" id="{FE4AA895-F606-4457-85E1-3FB85A9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 30 · STUDENTS</a:t>
            </a:r>
          </a:p>
        </p:txBody>
      </p:sp>
      <p:sp>
        <p:nvSpPr>
          <p:cNvPr id="28" name="VLAN 12 clients">
            <a:extLst xmlns:a="http://schemas.openxmlformats.org/drawingml/2006/main">
              <a:ext uri="{FF2B5EF4-FFF2-40B4-BE49-F238E27FC236}">
                <a16:creationId xmlns:a16="http://schemas.microsoft.com/office/drawing/2014/main" id="{19FC3E06-81B7-4530-8EC2-A22E2DE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S1, S2</a:t>
            </a:r>
          </a:p>
        </p:txBody>
      </p:sp>
      <p:sp>
        <p:nvSpPr>
          <p:cNvPr id="29" name="VLAN 12 subnet">
            <a:extLst xmlns:a="http://schemas.openxmlformats.org/drawingml/2006/main">
              <a:ext uri="{FF2B5EF4-FFF2-40B4-BE49-F238E27FC236}">
                <a16:creationId xmlns:a16="http://schemas.microsoft.com/office/drawing/2014/main" id="{E8857BE0-06E9-4297-A5DC-0ABA2D3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81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36F"/>
                </a:solidFill>
                <a:latin typeface="Arial"/>
                <a:ea typeface="Arial"/>
                <a:cs typeface="Arial"/>
              </a:rPr>
              <a:t>192.168.30.0/24</a:t>
            </a:r>
          </a:p>
        </p:txBody>
      </p:sp>
      <p:sp>
        <p:nvSpPr>
          <p:cNvPr id="30" name="VLAN 13 network">
            <a:extLst xmlns:a="http://schemas.openxmlformats.org/drawingml/2006/main">
              <a:ext uri="{FF2B5EF4-FFF2-40B4-BE49-F238E27FC236}">
                <a16:creationId xmlns:a16="http://schemas.microsoft.com/office/drawing/2014/main" id="{9B1B1560-7761-440E-88C3-88DBCD4F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607795"/>
            </a:solidFill>
            <a:prstDash val="solid"/>
          </a:ln>
        </p:spPr>
      </p:sp>
      <p:sp>
        <p:nvSpPr>
          <p:cNvPr id="31" name="VLAN 13 title">
            <a:extLst xmlns:a="http://schemas.openxmlformats.org/drawingml/2006/main">
              <a:ext uri="{FF2B5EF4-FFF2-40B4-BE49-F238E27FC236}">
                <a16:creationId xmlns:a16="http://schemas.microsoft.com/office/drawing/2014/main" id="{D88046C0-7540-4358-85C1-C74240E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 40 · LIBRARY</a:t>
            </a:r>
          </a:p>
        </p:txBody>
      </p:sp>
      <p:sp>
        <p:nvSpPr>
          <p:cNvPr id="32" name="VLAN 13 clients">
            <a:extLst xmlns:a="http://schemas.openxmlformats.org/drawingml/2006/main">
              <a:ext uri="{FF2B5EF4-FFF2-40B4-BE49-F238E27FC236}">
                <a16:creationId xmlns:a16="http://schemas.microsoft.com/office/drawing/2014/main" id="{30AC0482-2C30-4A45-BB7F-A6074AB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L1, L2 · Server</a:t>
            </a:r>
          </a:p>
        </p:txBody>
      </p:sp>
      <p:sp>
        <p:nvSpPr>
          <p:cNvPr id="33" name="VLAN 13 subnet">
            <a:extLst xmlns:a="http://schemas.openxmlformats.org/drawingml/2006/main">
              <a:ext uri="{FF2B5EF4-FFF2-40B4-BE49-F238E27FC236}">
                <a16:creationId xmlns:a16="http://schemas.microsoft.com/office/drawing/2014/main" id="{852E5FCC-DCAA-4296-8552-67C9CA5A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4053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36F"/>
                </a:solidFill>
                <a:latin typeface="Arial"/>
                <a:ea typeface="Arial"/>
                <a:cs typeface="Arial"/>
              </a:rPr>
              <a:t>192.168.40.0/24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096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Implementation: VLAN access ports, router subinterfaces and DHCP pools. Server .10 runs DNS and HTTP.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Working: A VLAN tag reaches R1; R1 routes to the destination VLAN and SW1 forwards the frame.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Fix applied: enable R1 Gi0/0; reserve the server IP from DHCP.</a:t>
            </a:r>
          </a:p>
        </p:txBody>
      </p:sp>
      <p:sp>
        <p:nvSpPr>
          <p:cNvPr id="7" name="Router subinterface example">
            <a:extLst xmlns:a="http://schemas.openxmlformats.org/drawingml/2006/main">
              <a:ext uri="{FF2B5EF4-FFF2-40B4-BE49-F238E27FC236}">
                <a16:creationId xmlns:a16="http://schemas.microsoft.com/office/drawing/2014/main" id="{B105B320-3667-4BA0-9E28-48DE239C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8091AA"/>
            </a:solidFill>
            <a:prstDash val="solid"/>
          </a:ln>
        </p:spPr>
      </p:sp>
      <p:sp>
        <p:nvSpPr>
          <p:cNvPr id="8" name="Router-on-a-stick configuration">
            <a:extLst xmlns:a="http://schemas.openxmlformats.org/drawingml/2006/main">
              <a:ext uri="{FF2B5EF4-FFF2-40B4-BE49-F238E27FC236}">
                <a16:creationId xmlns:a16="http://schemas.microsoft.com/office/drawing/2014/main" id="{DDE844DC-3C99-4258-8848-79251113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7334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l"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interface GigabitEthernet0/0.10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75C"/>
                </a:solidFill>
                <a:latin typeface="Arial"/>
                <a:ea typeface="Arial"/>
                <a:cs typeface="Arial"/>
              </a:rPr>
              <a:t> encapsulation dot1Q 10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75C"/>
                </a:solidFill>
                <a:latin typeface="Arial"/>
                <a:ea typeface="Arial"/>
                <a:cs typeface="Arial"/>
              </a:rPr>
              <a:t> ip address 192.168.10.1 255.255.255.0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75C"/>
                </a:solidFill>
                <a:latin typeface="Arial"/>
                <a:ea typeface="Arial"/>
                <a:cs typeface="Arial"/>
              </a:rPr>
              <a:t>!  Repeat for VLANs 20, 30 and 40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A1 (VLAN 10)  →  SW1  →  R1  →  SW1  →  Server (VLAN 40)</a:t>
            </a:r>
          </a:p>
          <a:p xmlns:a="http://schemas.openxmlformats.org/drawingml/2006/main">
            <a:pPr>
              <a:buNone/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TCP destination port 80     |     4 network hops     |     TTL 64 → 63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Test: simulator model, A1 → Server using TCP port 80.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Expected: cross-VLAN traffic is routed by R1 to the server subnet.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Observed: path includes R1; modeled TTL decreases by one.</a:t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Also checked: same-VLAN path bypasses R1; DNS uses server 192.168.40.10.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how a packet moves from a client in one VLAN to the campus server in another VLAN.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Open the completed .pkt in Cisco Packet Tracer and show the topology.</a:t>
            </a:r>
          </a:p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In the local website, choose A1 → Server, TCP port 80, then run Trace.</a:t>
            </a:r>
          </a:p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Compare the route and hop details with the VLAN layout.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Success: the trace crosses R1 between VLANs and reaches the server.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Outcome: four VLANs, DHCP, DNS and a campus web server are configured in the project.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Use: demonstrate department separation and inter-VLAN routing.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Limitation: website traces are modeled; live Packet Tracer traffic was not tested here.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Future: add more campus services and security rules.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Team contribution: Ajinkya Katke, Tattwam Samui, Akshat Pandey, Smith Hajgude and Shlok Pandey — project team.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816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AI use: helped build the companion simulator and configuration guidance; details checked against the project files.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150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8096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[1] Cisco Networking Academy, “Cisco Packet Tracer,” https://www.netacad.com/catalogs/learn/cisco-packet-tracer.</a:t>
            </a:r>
          </a:p>
          <a:p xmlns:a="http://schemas.openxmlformats.org/drawingml/2006/main">
            <a:r>
              <a:t/>
            </a:r>
            <a:endParaRPr sz="1800" b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[2] Cisco, “Configure Inter VLAN Routing with the Use of an External Router,” https://www.cisco.com/c/en/us/support/docs/lan-switching/inter-vlan-routing/14976-50.html.</a:t>
            </a:r>
          </a:p>
          <a:p xmlns:a="http://schemas.openxmlformats.org/drawingml/2006/main">
            <a:r>
              <a:t/>
            </a:r>
            <a:endParaRPr sz="1800" b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[3] R. Droms, “Dynamic Host Configuration Protocol,” RFC 2131, IETF, Mar. 1997.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Project evidence: Group_project_completed.pkt and the Campus Packet Lab local website.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2026-10-26T06:34:48.6450000Z</dcterms:created>
  <dcterms:modified xsi:type="dcterms:W3CDTF">2026-10-26T06:34:48.6450000Z</dcterms:modified>
</coreProperties>
</file>